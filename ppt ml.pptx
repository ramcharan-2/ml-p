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1B2A"/>
          </a:solidFill>
          <a:ln/>
        </p:spPr>
      </p:sp>
      <p:sp>
        <p:nvSpPr>
          <p:cNvPr id="3" name="Text 1"/>
          <p:cNvSpPr/>
          <p:nvPr/>
        </p:nvSpPr>
        <p:spPr>
          <a:xfrm>
            <a:off x="914400" y="1371600"/>
            <a:ext cx="10058400" cy="2286000"/>
          </a:xfrm>
          <a:prstGeom prst="rect">
            <a:avLst/>
          </a:prstGeom>
          <a:noFill/>
          <a:ln/>
        </p:spPr>
        <p:txBody>
          <a:bodyPr wrap="square" rtlCol="0" anchor="ctr"/>
          <a:lstStyle/>
          <a:p>
            <a:pPr algn="ctr" indent="0" marL="0">
              <a:lnSpc>
                <a:spcPct val="120000"/>
              </a:lnSpc>
              <a:buNone/>
            </a:pPr>
            <a:r>
              <a:rPr lang="en-US" sz="5400" b="1" dirty="0">
                <a:solidFill>
                  <a:srgbClr val="FFFFFF"/>
                </a:solidFill>
                <a:latin typeface="Georgia" pitchFamily="34" charset="0"/>
                <a:ea typeface="Georgia" pitchFamily="34" charset="-122"/>
                <a:cs typeface="Georgia" pitchFamily="34" charset="-120"/>
              </a:rPr>
              <a:t>Fashion Sales</a:t>
            </a:r>
            <a:endParaRPr lang="en-US" sz="5400" dirty="0"/>
          </a:p>
          <a:p>
            <a:pPr algn="ctr" indent="0" marL="0">
              <a:lnSpc>
                <a:spcPct val="120000"/>
              </a:lnSpc>
              <a:buNone/>
            </a:pPr>
            <a:r>
              <a:rPr lang="en-US" sz="5400" b="1" dirty="0">
                <a:solidFill>
                  <a:srgbClr val="FFFFFF"/>
                </a:solidFill>
                <a:latin typeface="Georgia" pitchFamily="34" charset="0"/>
                <a:ea typeface="Georgia" pitchFamily="34" charset="-122"/>
                <a:cs typeface="Georgia" pitchFamily="34" charset="-120"/>
              </a:rPr>
              <a:t>Prediction</a:t>
            </a:r>
            <a:endParaRPr lang="en-US" sz="5400" dirty="0"/>
          </a:p>
        </p:txBody>
      </p:sp>
      <p:sp>
        <p:nvSpPr>
          <p:cNvPr id="4" name="Text 2"/>
          <p:cNvSpPr/>
          <p:nvPr/>
        </p:nvSpPr>
        <p:spPr>
          <a:xfrm>
            <a:off x="914400" y="3840480"/>
            <a:ext cx="10058400" cy="548640"/>
          </a:xfrm>
          <a:prstGeom prst="rect">
            <a:avLst/>
          </a:prstGeom>
          <a:noFill/>
          <a:ln/>
        </p:spPr>
        <p:txBody>
          <a:bodyPr wrap="square" rtlCol="0" anchor="ctr"/>
          <a:lstStyle/>
          <a:p>
            <a:pPr algn="ctr" indent="0" marL="0">
              <a:buNone/>
            </a:pPr>
            <a:r>
              <a:rPr lang="en-US" sz="2200" dirty="0">
                <a:solidFill>
                  <a:srgbClr val="CADCFC"/>
                </a:solidFill>
                <a:latin typeface="Calibri" pitchFamily="34" charset="0"/>
                <a:ea typeface="Calibri" pitchFamily="34" charset="-122"/>
                <a:cs typeface="Calibri" pitchFamily="34" charset="-120"/>
              </a:rPr>
              <a:t>A Machine Learning Project</a:t>
            </a:r>
            <a:endParaRPr lang="en-US" sz="2200" dirty="0"/>
          </a:p>
        </p:txBody>
      </p:sp>
      <p:sp>
        <p:nvSpPr>
          <p:cNvPr id="5" name="Shape 3"/>
          <p:cNvSpPr/>
          <p:nvPr/>
        </p:nvSpPr>
        <p:spPr>
          <a:xfrm>
            <a:off x="5029200" y="4572000"/>
            <a:ext cx="2130552" cy="54864"/>
          </a:xfrm>
          <a:prstGeom prst="rect">
            <a:avLst/>
          </a:prstGeom>
          <a:solidFill>
            <a:srgbClr val="F96167"/>
          </a:solidFill>
          <a:ln/>
        </p:spPr>
      </p:sp>
      <p:sp>
        <p:nvSpPr>
          <p:cNvPr id="6" name="Text 4"/>
          <p:cNvSpPr/>
          <p:nvPr/>
        </p:nvSpPr>
        <p:spPr>
          <a:xfrm>
            <a:off x="1828800" y="4937760"/>
            <a:ext cx="8229600" cy="457200"/>
          </a:xfrm>
          <a:prstGeom prst="rect">
            <a:avLst/>
          </a:prstGeom>
          <a:noFill/>
          <a:ln/>
        </p:spPr>
        <p:txBody>
          <a:bodyPr wrap="square" rtlCol="0" anchor="ctr"/>
          <a:lstStyle/>
          <a:p>
            <a:pPr algn="ctr" indent="0" marL="0">
              <a:buNone/>
            </a:pPr>
            <a:r>
              <a:rPr lang="en-US" sz="1400" i="1" dirty="0">
                <a:solidFill>
                  <a:srgbClr val="CADCFC"/>
                </a:solidFill>
                <a:latin typeface="Calibri" pitchFamily="34" charset="0"/>
                <a:ea typeface="Calibri" pitchFamily="34" charset="-122"/>
                <a:cs typeface="Calibri" pitchFamily="34" charset="-120"/>
              </a:rPr>
              <a:t>Leveraging Data Science to Forecast Fashion Retail Trends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1E2761"/>
          </a:solidFill>
          <a:ln/>
        </p:spPr>
      </p:sp>
      <p:sp>
        <p:nvSpPr>
          <p:cNvPr id="3" name="Text 1"/>
          <p:cNvSpPr/>
          <p:nvPr/>
        </p:nvSpPr>
        <p:spPr>
          <a:xfrm>
            <a:off x="731520" y="365760"/>
            <a:ext cx="4572000" cy="640080"/>
          </a:xfrm>
          <a:prstGeom prst="rect">
            <a:avLst/>
          </a:prstGeom>
          <a:noFill/>
          <a:ln/>
        </p:spPr>
        <p:txBody>
          <a:bodyPr wrap="square" rtlCol="0" anchor="ctr"/>
          <a:lstStyle/>
          <a:p>
            <a:pPr indent="0" marL="0">
              <a:buNone/>
            </a:pPr>
            <a:r>
              <a:rPr lang="en-US" sz="3600" b="1" dirty="0">
                <a:solidFill>
                  <a:srgbClr val="1E2761"/>
                </a:solidFill>
                <a:latin typeface="Georgia" pitchFamily="34" charset="0"/>
                <a:ea typeface="Georgia" pitchFamily="34" charset="-122"/>
                <a:cs typeface="Georgia" pitchFamily="34" charset="-120"/>
              </a:rPr>
              <a:t>Abstract</a:t>
            </a:r>
            <a:endParaRPr lang="en-US" sz="3600" dirty="0"/>
          </a:p>
        </p:txBody>
      </p:sp>
      <p:sp>
        <p:nvSpPr>
          <p:cNvPr id="4" name="Shape 2"/>
          <p:cNvSpPr/>
          <p:nvPr/>
        </p:nvSpPr>
        <p:spPr>
          <a:xfrm>
            <a:off x="731520" y="1051560"/>
            <a:ext cx="1371600" cy="45720"/>
          </a:xfrm>
          <a:prstGeom prst="rect">
            <a:avLst/>
          </a:prstGeom>
          <a:solidFill>
            <a:srgbClr val="F96167"/>
          </a:solidFill>
          <a:ln/>
        </p:spPr>
      </p:sp>
      <p:sp>
        <p:nvSpPr>
          <p:cNvPr id="5" name="Text 3"/>
          <p:cNvSpPr/>
          <p:nvPr/>
        </p:nvSpPr>
        <p:spPr>
          <a:xfrm>
            <a:off x="731520" y="1371600"/>
            <a:ext cx="10515600" cy="4572000"/>
          </a:xfrm>
          <a:prstGeom prst="rect">
            <a:avLst/>
          </a:prstGeom>
          <a:noFill/>
          <a:ln/>
        </p:spPr>
        <p:txBody>
          <a:bodyPr wrap="square" rtlCol="0" anchor="t"/>
          <a:lstStyle/>
          <a:p>
            <a:pPr indent="0" marL="0">
              <a:lnSpc>
                <a:spcPct val="150000"/>
              </a:lnSpc>
              <a:buNone/>
            </a:pPr>
            <a:r>
              <a:rPr lang="en-US" sz="1500" dirty="0">
                <a:solidFill>
                  <a:srgbClr val="333333"/>
                </a:solidFill>
                <a:latin typeface="Calibri" pitchFamily="34" charset="0"/>
                <a:ea typeface="Calibri" pitchFamily="34" charset="-122"/>
                <a:cs typeface="Calibri" pitchFamily="34" charset="-120"/>
              </a:rPr>
              <a:t>The Fashion Sales Prediction project applies machine learning techniques to forecast sales trends in the fashion retail industry. By analyzing historical sales data including product categories, pricing, customer demographics, seasonal patterns, and promotional activities, the model predicts future sales volumes with high accuracy.</a:t>
            </a:r>
            <a:endParaRPr lang="en-US" sz="1500" dirty="0"/>
          </a:p>
          <a:p>
            <a:pPr indent="0" marL="0">
              <a:lnSpc>
                <a:spcPct val="150000"/>
              </a:lnSpc>
              <a:buNone/>
            </a:pPr>
            <a:endParaRPr lang="en-US" sz="1500" dirty="0"/>
          </a:p>
          <a:p>
            <a:pPr indent="0" marL="0">
              <a:lnSpc>
                <a:spcPct val="150000"/>
              </a:lnSpc>
              <a:buNone/>
            </a:pPr>
            <a:r>
              <a:rPr lang="en-US" sz="1500" dirty="0">
                <a:solidFill>
                  <a:srgbClr val="333333"/>
                </a:solidFill>
                <a:latin typeface="Calibri" pitchFamily="34" charset="0"/>
                <a:ea typeface="Calibri" pitchFamily="34" charset="-122"/>
                <a:cs typeface="Calibri" pitchFamily="34" charset="-120"/>
              </a:rPr>
              <a:t>This project utilizes supervised learning algorithms — primarily Random Forest and Gradient Boosting — to identify complex patterns in multi-dimensional fashion retail data. The system processes features such as product attributes, temporal indicators, discount levels, and customer segments to generate actionable sales forecasts.</a:t>
            </a:r>
            <a:endParaRPr lang="en-US" sz="1500" dirty="0"/>
          </a:p>
          <a:p>
            <a:pPr indent="0" marL="0">
              <a:lnSpc>
                <a:spcPct val="150000"/>
              </a:lnSpc>
              <a:buNone/>
            </a:pPr>
            <a:endParaRPr lang="en-US" sz="1500" dirty="0"/>
          </a:p>
          <a:p>
            <a:pPr indent="0" marL="0">
              <a:lnSpc>
                <a:spcPct val="150000"/>
              </a:lnSpc>
              <a:buNone/>
            </a:pPr>
            <a:r>
              <a:rPr lang="en-US" sz="1500" dirty="0">
                <a:solidFill>
                  <a:srgbClr val="333333"/>
                </a:solidFill>
                <a:latin typeface="Calibri" pitchFamily="34" charset="0"/>
                <a:ea typeface="Calibri" pitchFamily="34" charset="-122"/>
                <a:cs typeface="Calibri" pitchFamily="34" charset="-120"/>
              </a:rPr>
              <a:t>The solution aims to help fashion retailers optimize inventory management, reduce overstock waste, plan marketing strategies, and improve overall revenue by providing data-driven demand predictions across different product categories and time periods.</a:t>
            </a:r>
            <a:endParaRPr lang="en-US" sz="1500" dirty="0"/>
          </a:p>
        </p:txBody>
      </p:sp>
      <p:sp>
        <p:nvSpPr>
          <p:cNvPr id="6" name="Text 4"/>
          <p:cNvSpPr/>
          <p:nvPr/>
        </p:nvSpPr>
        <p:spPr>
          <a:xfrm>
            <a:off x="4114800" y="6400800"/>
            <a:ext cx="3959352" cy="274320"/>
          </a:xfrm>
          <a:prstGeom prst="rect">
            <a:avLst/>
          </a:prstGeom>
          <a:noFill/>
          <a:ln/>
        </p:spPr>
        <p:txBody>
          <a:bodyPr wrap="square" rtlCol="0" anchor="ctr"/>
          <a:lstStyle/>
          <a:p>
            <a:pPr algn="ctr" indent="0" marL="0">
              <a:buNone/>
            </a:pPr>
            <a:r>
              <a:rPr lang="en-US" sz="1000" dirty="0">
                <a:solidFill>
                  <a:srgbClr val="666666"/>
                </a:solidFill>
              </a:rPr>
              <a:t>2 / 8</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2"/>
        </a:solidFill>
      </p:bgPr>
    </p:bg>
    <p:spTree>
      <p:nvGrpSpPr>
        <p:cNvPr id="1" name=""/>
        <p:cNvGrpSpPr/>
        <p:nvPr/>
      </p:nvGrpSpPr>
      <p:grpSpPr>
        <a:xfrm>
          <a:off x="0" y="0"/>
          <a:ext cx="0" cy="0"/>
          <a:chOff x="0" y="0"/>
          <a:chExt cx="0" cy="0"/>
        </a:xfrm>
      </p:grpSpPr>
      <p:sp>
        <p:nvSpPr>
          <p:cNvPr id="2" name="Text 0"/>
          <p:cNvSpPr/>
          <p:nvPr/>
        </p:nvSpPr>
        <p:spPr>
          <a:xfrm>
            <a:off x="731520" y="365760"/>
            <a:ext cx="7315200" cy="640080"/>
          </a:xfrm>
          <a:prstGeom prst="rect">
            <a:avLst/>
          </a:prstGeom>
          <a:noFill/>
          <a:ln/>
        </p:spPr>
        <p:txBody>
          <a:bodyPr wrap="square" rtlCol="0" anchor="ctr"/>
          <a:lstStyle/>
          <a:p>
            <a:pPr indent="0" marL="0">
              <a:buNone/>
            </a:pPr>
            <a:r>
              <a:rPr lang="en-US" sz="3600" b="1" dirty="0">
                <a:solidFill>
                  <a:srgbClr val="1E2761"/>
                </a:solidFill>
                <a:latin typeface="Georgia" pitchFamily="34" charset="0"/>
                <a:ea typeface="Georgia" pitchFamily="34" charset="-122"/>
                <a:cs typeface="Georgia" pitchFamily="34" charset="-120"/>
              </a:rPr>
              <a:t>Tools &amp; Technologies</a:t>
            </a:r>
            <a:endParaRPr lang="en-US" sz="3600" dirty="0"/>
          </a:p>
        </p:txBody>
      </p:sp>
      <p:sp>
        <p:nvSpPr>
          <p:cNvPr id="3" name="Shape 1"/>
          <p:cNvSpPr/>
          <p:nvPr/>
        </p:nvSpPr>
        <p:spPr>
          <a:xfrm>
            <a:off x="731520" y="1051560"/>
            <a:ext cx="1371600" cy="45720"/>
          </a:xfrm>
          <a:prstGeom prst="rect">
            <a:avLst/>
          </a:prstGeom>
          <a:solidFill>
            <a:srgbClr val="F96167"/>
          </a:solidFill>
          <a:ln/>
        </p:spPr>
      </p:sp>
      <p:sp>
        <p:nvSpPr>
          <p:cNvPr id="4" name="Shape 2"/>
          <p:cNvSpPr/>
          <p:nvPr/>
        </p:nvSpPr>
        <p:spPr>
          <a:xfrm>
            <a:off x="731520" y="1645920"/>
            <a:ext cx="3291840" cy="2011680"/>
          </a:xfrm>
          <a:prstGeom prst="roundRect">
            <a:avLst>
              <a:gd name="adj" fmla="val 6818"/>
            </a:avLst>
          </a:prstGeom>
          <a:solidFill>
            <a:srgbClr val="FFFFFF"/>
          </a:solidFill>
          <a:ln/>
          <a:effectLst>
            <a:outerShdw sx="100000" sy="100000" kx="0" ky="0" algn="bl" rotWithShape="0" blurRad="76200" dist="25400" dir="16200000">
              <a:srgbClr val="CCCCCC">
                <a:alpha val="30000"/>
              </a:srgbClr>
            </a:outerShdw>
          </a:effectLst>
        </p:spPr>
      </p:sp>
      <p:sp>
        <p:nvSpPr>
          <p:cNvPr id="5" name="Text 3"/>
          <p:cNvSpPr/>
          <p:nvPr/>
        </p:nvSpPr>
        <p:spPr>
          <a:xfrm>
            <a:off x="731520" y="1828800"/>
            <a:ext cx="329184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731520" y="2377440"/>
            <a:ext cx="3291840" cy="457200"/>
          </a:xfrm>
          <a:prstGeom prst="rect">
            <a:avLst/>
          </a:prstGeom>
          <a:noFill/>
          <a:ln/>
        </p:spPr>
        <p:txBody>
          <a:bodyPr wrap="square"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Python 3.x</a:t>
            </a:r>
            <a:endParaRPr lang="en-US" sz="1600" dirty="0"/>
          </a:p>
        </p:txBody>
      </p:sp>
      <p:sp>
        <p:nvSpPr>
          <p:cNvPr id="7" name="Text 5"/>
          <p:cNvSpPr/>
          <p:nvPr/>
        </p:nvSpPr>
        <p:spPr>
          <a:xfrm>
            <a:off x="914400" y="2834640"/>
            <a:ext cx="2926080" cy="54864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Core programming language</a:t>
            </a:r>
            <a:endParaRPr lang="en-US" sz="1200" dirty="0"/>
          </a:p>
        </p:txBody>
      </p:sp>
      <p:sp>
        <p:nvSpPr>
          <p:cNvPr id="8" name="Shape 6"/>
          <p:cNvSpPr/>
          <p:nvPr/>
        </p:nvSpPr>
        <p:spPr>
          <a:xfrm>
            <a:off x="4389120" y="1645920"/>
            <a:ext cx="3291840" cy="2011680"/>
          </a:xfrm>
          <a:prstGeom prst="roundRect">
            <a:avLst>
              <a:gd name="adj" fmla="val 6818"/>
            </a:avLst>
          </a:prstGeom>
          <a:solidFill>
            <a:srgbClr val="FFFFFF"/>
          </a:solidFill>
          <a:ln/>
          <a:effectLst>
            <a:outerShdw sx="100000" sy="100000" kx="0" ky="0" algn="bl" rotWithShape="0" blurRad="76200" dist="25400" dir="16200000">
              <a:srgbClr val="CCCCCC">
                <a:alpha val="30000"/>
              </a:srgbClr>
            </a:outerShdw>
          </a:effectLst>
        </p:spPr>
      </p:sp>
      <p:sp>
        <p:nvSpPr>
          <p:cNvPr id="9" name="Text 7"/>
          <p:cNvSpPr/>
          <p:nvPr/>
        </p:nvSpPr>
        <p:spPr>
          <a:xfrm>
            <a:off x="4389120" y="1828800"/>
            <a:ext cx="329184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4389120" y="2377440"/>
            <a:ext cx="3291840" cy="457200"/>
          </a:xfrm>
          <a:prstGeom prst="rect">
            <a:avLst/>
          </a:prstGeom>
          <a:noFill/>
          <a:ln/>
        </p:spPr>
        <p:txBody>
          <a:bodyPr wrap="square"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Pandas &amp; NumPy</a:t>
            </a:r>
            <a:endParaRPr lang="en-US" sz="1600" dirty="0"/>
          </a:p>
        </p:txBody>
      </p:sp>
      <p:sp>
        <p:nvSpPr>
          <p:cNvPr id="11" name="Text 9"/>
          <p:cNvSpPr/>
          <p:nvPr/>
        </p:nvSpPr>
        <p:spPr>
          <a:xfrm>
            <a:off x="4572000" y="2834640"/>
            <a:ext cx="2926080" cy="54864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Data manipulation &amp; numerical computing</a:t>
            </a:r>
            <a:endParaRPr lang="en-US" sz="1200" dirty="0"/>
          </a:p>
        </p:txBody>
      </p:sp>
      <p:sp>
        <p:nvSpPr>
          <p:cNvPr id="12" name="Shape 10"/>
          <p:cNvSpPr/>
          <p:nvPr/>
        </p:nvSpPr>
        <p:spPr>
          <a:xfrm>
            <a:off x="8046720" y="1645920"/>
            <a:ext cx="3291840" cy="2011680"/>
          </a:xfrm>
          <a:prstGeom prst="roundRect">
            <a:avLst>
              <a:gd name="adj" fmla="val 6818"/>
            </a:avLst>
          </a:prstGeom>
          <a:solidFill>
            <a:srgbClr val="FFFFFF"/>
          </a:solidFill>
          <a:ln/>
          <a:effectLst>
            <a:outerShdw sx="100000" sy="100000" kx="0" ky="0" algn="bl" rotWithShape="0" blurRad="76200" dist="25400" dir="16200000">
              <a:srgbClr val="CCCCCC">
                <a:alpha val="30000"/>
              </a:srgbClr>
            </a:outerShdw>
          </a:effectLst>
        </p:spPr>
      </p:sp>
      <p:sp>
        <p:nvSpPr>
          <p:cNvPr id="13" name="Text 11"/>
          <p:cNvSpPr/>
          <p:nvPr/>
        </p:nvSpPr>
        <p:spPr>
          <a:xfrm>
            <a:off x="8046720" y="1828800"/>
            <a:ext cx="329184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8046720" y="2377440"/>
            <a:ext cx="3291840" cy="457200"/>
          </a:xfrm>
          <a:prstGeom prst="rect">
            <a:avLst/>
          </a:prstGeom>
          <a:noFill/>
          <a:ln/>
        </p:spPr>
        <p:txBody>
          <a:bodyPr wrap="square"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Scikit-learn</a:t>
            </a:r>
            <a:endParaRPr lang="en-US" sz="1600" dirty="0"/>
          </a:p>
        </p:txBody>
      </p:sp>
      <p:sp>
        <p:nvSpPr>
          <p:cNvPr id="15" name="Text 13"/>
          <p:cNvSpPr/>
          <p:nvPr/>
        </p:nvSpPr>
        <p:spPr>
          <a:xfrm>
            <a:off x="8229600" y="2834640"/>
            <a:ext cx="2926080" cy="54864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Machine learning algorithms &amp; evaluation</a:t>
            </a:r>
            <a:endParaRPr lang="en-US" sz="1200" dirty="0"/>
          </a:p>
        </p:txBody>
      </p:sp>
      <p:sp>
        <p:nvSpPr>
          <p:cNvPr id="16" name="Shape 14"/>
          <p:cNvSpPr/>
          <p:nvPr/>
        </p:nvSpPr>
        <p:spPr>
          <a:xfrm>
            <a:off x="731520" y="4023360"/>
            <a:ext cx="3291840" cy="2011680"/>
          </a:xfrm>
          <a:prstGeom prst="roundRect">
            <a:avLst>
              <a:gd name="adj" fmla="val 6818"/>
            </a:avLst>
          </a:prstGeom>
          <a:solidFill>
            <a:srgbClr val="FFFFFF"/>
          </a:solidFill>
          <a:ln/>
          <a:effectLst>
            <a:outerShdw sx="100000" sy="100000" kx="0" ky="0" algn="bl" rotWithShape="0" blurRad="76200" dist="25400" dir="16200000">
              <a:srgbClr val="CCCCCC">
                <a:alpha val="30000"/>
              </a:srgbClr>
            </a:outerShdw>
          </a:effectLst>
        </p:spPr>
      </p:sp>
      <p:sp>
        <p:nvSpPr>
          <p:cNvPr id="17" name="Text 15"/>
          <p:cNvSpPr/>
          <p:nvPr/>
        </p:nvSpPr>
        <p:spPr>
          <a:xfrm>
            <a:off x="731520" y="4206240"/>
            <a:ext cx="329184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731520" y="4754880"/>
            <a:ext cx="3291840" cy="457200"/>
          </a:xfrm>
          <a:prstGeom prst="rect">
            <a:avLst/>
          </a:prstGeom>
          <a:noFill/>
          <a:ln/>
        </p:spPr>
        <p:txBody>
          <a:bodyPr wrap="square"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Matplotlib &amp; Seaborn</a:t>
            </a:r>
            <a:endParaRPr lang="en-US" sz="1600" dirty="0"/>
          </a:p>
        </p:txBody>
      </p:sp>
      <p:sp>
        <p:nvSpPr>
          <p:cNvPr id="19" name="Text 17"/>
          <p:cNvSpPr/>
          <p:nvPr/>
        </p:nvSpPr>
        <p:spPr>
          <a:xfrm>
            <a:off x="914400" y="5212080"/>
            <a:ext cx="2926080" cy="54864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Data visualization &amp; EDA</a:t>
            </a:r>
            <a:endParaRPr lang="en-US" sz="1200" dirty="0"/>
          </a:p>
        </p:txBody>
      </p:sp>
      <p:sp>
        <p:nvSpPr>
          <p:cNvPr id="20" name="Shape 18"/>
          <p:cNvSpPr/>
          <p:nvPr/>
        </p:nvSpPr>
        <p:spPr>
          <a:xfrm>
            <a:off x="4389120" y="4023360"/>
            <a:ext cx="3291840" cy="2011680"/>
          </a:xfrm>
          <a:prstGeom prst="roundRect">
            <a:avLst>
              <a:gd name="adj" fmla="val 6818"/>
            </a:avLst>
          </a:prstGeom>
          <a:solidFill>
            <a:srgbClr val="FFFFFF"/>
          </a:solidFill>
          <a:ln/>
          <a:effectLst>
            <a:outerShdw sx="100000" sy="100000" kx="0" ky="0" algn="bl" rotWithShape="0" blurRad="76200" dist="25400" dir="16200000">
              <a:srgbClr val="CCCCCC">
                <a:alpha val="30000"/>
              </a:srgbClr>
            </a:outerShdw>
          </a:effectLst>
        </p:spPr>
      </p:sp>
      <p:sp>
        <p:nvSpPr>
          <p:cNvPr id="21" name="Text 19"/>
          <p:cNvSpPr/>
          <p:nvPr/>
        </p:nvSpPr>
        <p:spPr>
          <a:xfrm>
            <a:off x="4389120" y="4206240"/>
            <a:ext cx="329184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22" name="Text 20"/>
          <p:cNvSpPr/>
          <p:nvPr/>
        </p:nvSpPr>
        <p:spPr>
          <a:xfrm>
            <a:off x="4389120" y="4754880"/>
            <a:ext cx="3291840" cy="457200"/>
          </a:xfrm>
          <a:prstGeom prst="rect">
            <a:avLst/>
          </a:prstGeom>
          <a:noFill/>
          <a:ln/>
        </p:spPr>
        <p:txBody>
          <a:bodyPr wrap="square"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Jupyter Notebook</a:t>
            </a:r>
            <a:endParaRPr lang="en-US" sz="1600" dirty="0"/>
          </a:p>
        </p:txBody>
      </p:sp>
      <p:sp>
        <p:nvSpPr>
          <p:cNvPr id="23" name="Text 21"/>
          <p:cNvSpPr/>
          <p:nvPr/>
        </p:nvSpPr>
        <p:spPr>
          <a:xfrm>
            <a:off x="4572000" y="5212080"/>
            <a:ext cx="2926080" cy="54864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Interactive development environment</a:t>
            </a:r>
            <a:endParaRPr lang="en-US" sz="1200" dirty="0"/>
          </a:p>
        </p:txBody>
      </p:sp>
      <p:sp>
        <p:nvSpPr>
          <p:cNvPr id="24" name="Shape 22"/>
          <p:cNvSpPr/>
          <p:nvPr/>
        </p:nvSpPr>
        <p:spPr>
          <a:xfrm>
            <a:off x="8046720" y="4023360"/>
            <a:ext cx="3291840" cy="2011680"/>
          </a:xfrm>
          <a:prstGeom prst="roundRect">
            <a:avLst>
              <a:gd name="adj" fmla="val 6818"/>
            </a:avLst>
          </a:prstGeom>
          <a:solidFill>
            <a:srgbClr val="FFFFFF"/>
          </a:solidFill>
          <a:ln/>
          <a:effectLst>
            <a:outerShdw sx="100000" sy="100000" kx="0" ky="0" algn="bl" rotWithShape="0" blurRad="76200" dist="25400" dir="16200000">
              <a:srgbClr val="CCCCCC">
                <a:alpha val="30000"/>
              </a:srgbClr>
            </a:outerShdw>
          </a:effectLst>
        </p:spPr>
      </p:sp>
      <p:sp>
        <p:nvSpPr>
          <p:cNvPr id="25" name="Text 23"/>
          <p:cNvSpPr/>
          <p:nvPr/>
        </p:nvSpPr>
        <p:spPr>
          <a:xfrm>
            <a:off x="8046720" y="4206240"/>
            <a:ext cx="329184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26" name="Text 24"/>
          <p:cNvSpPr/>
          <p:nvPr/>
        </p:nvSpPr>
        <p:spPr>
          <a:xfrm>
            <a:off x="8046720" y="4754880"/>
            <a:ext cx="3291840" cy="457200"/>
          </a:xfrm>
          <a:prstGeom prst="rect">
            <a:avLst/>
          </a:prstGeom>
          <a:noFill/>
          <a:ln/>
        </p:spPr>
        <p:txBody>
          <a:bodyPr wrap="square"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XGBoost</a:t>
            </a:r>
            <a:endParaRPr lang="en-US" sz="1600" dirty="0"/>
          </a:p>
        </p:txBody>
      </p:sp>
      <p:sp>
        <p:nvSpPr>
          <p:cNvPr id="27" name="Text 25"/>
          <p:cNvSpPr/>
          <p:nvPr/>
        </p:nvSpPr>
        <p:spPr>
          <a:xfrm>
            <a:off x="8229600" y="5212080"/>
            <a:ext cx="2926080" cy="54864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Advanced gradient boosting framework</a:t>
            </a:r>
            <a:endParaRPr lang="en-US" sz="1200" dirty="0"/>
          </a:p>
        </p:txBody>
      </p:sp>
      <p:sp>
        <p:nvSpPr>
          <p:cNvPr id="28" name="Text 26"/>
          <p:cNvSpPr/>
          <p:nvPr/>
        </p:nvSpPr>
        <p:spPr>
          <a:xfrm>
            <a:off x="4114800" y="6400800"/>
            <a:ext cx="3959352" cy="274320"/>
          </a:xfrm>
          <a:prstGeom prst="rect">
            <a:avLst/>
          </a:prstGeom>
          <a:noFill/>
          <a:ln/>
        </p:spPr>
        <p:txBody>
          <a:bodyPr wrap="square" rtlCol="0" anchor="ctr"/>
          <a:lstStyle/>
          <a:p>
            <a:pPr algn="ctr" indent="0" marL="0">
              <a:buNone/>
            </a:pPr>
            <a:r>
              <a:rPr lang="en-US" sz="1000" dirty="0">
                <a:solidFill>
                  <a:srgbClr val="666666"/>
                </a:solidFill>
              </a:rPr>
              <a:t>3 / 8</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1E2761"/>
          </a:solidFill>
          <a:ln/>
        </p:spPr>
      </p:sp>
      <p:sp>
        <p:nvSpPr>
          <p:cNvPr id="3" name="Text 1"/>
          <p:cNvSpPr/>
          <p:nvPr/>
        </p:nvSpPr>
        <p:spPr>
          <a:xfrm>
            <a:off x="731520" y="182880"/>
            <a:ext cx="9144000" cy="73152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Detailed Tool Explanation (1/2)</a:t>
            </a:r>
            <a:endParaRPr lang="en-US" sz="2800" dirty="0"/>
          </a:p>
        </p:txBody>
      </p:sp>
      <p:sp>
        <p:nvSpPr>
          <p:cNvPr id="4" name="Shape 2"/>
          <p:cNvSpPr/>
          <p:nvPr/>
        </p:nvSpPr>
        <p:spPr>
          <a:xfrm>
            <a:off x="731520" y="1371600"/>
            <a:ext cx="73152" cy="1463040"/>
          </a:xfrm>
          <a:prstGeom prst="rect">
            <a:avLst/>
          </a:prstGeom>
          <a:solidFill>
            <a:srgbClr val="F96167"/>
          </a:solidFill>
          <a:ln/>
        </p:spPr>
      </p:sp>
      <p:sp>
        <p:nvSpPr>
          <p:cNvPr id="5" name="Text 3"/>
          <p:cNvSpPr/>
          <p:nvPr/>
        </p:nvSpPr>
        <p:spPr>
          <a:xfrm>
            <a:off x="1097280" y="1371600"/>
            <a:ext cx="3657600" cy="411480"/>
          </a:xfrm>
          <a:prstGeom prst="rect">
            <a:avLst/>
          </a:prstGeom>
          <a:noFill/>
          <a:ln/>
        </p:spPr>
        <p:txBody>
          <a:bodyPr wrap="square"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Python 3.x</a:t>
            </a:r>
            <a:endParaRPr lang="en-US" sz="1800" dirty="0"/>
          </a:p>
        </p:txBody>
      </p:sp>
      <p:sp>
        <p:nvSpPr>
          <p:cNvPr id="6" name="Text 4"/>
          <p:cNvSpPr/>
          <p:nvPr/>
        </p:nvSpPr>
        <p:spPr>
          <a:xfrm>
            <a:off x="1097280" y="1783080"/>
            <a:ext cx="10058400" cy="1051560"/>
          </a:xfrm>
          <a:prstGeom prst="rect">
            <a:avLst/>
          </a:prstGeom>
          <a:noFill/>
          <a:ln/>
        </p:spPr>
        <p:txBody>
          <a:bodyPr wrap="square" rtlCol="0" anchor="ctr"/>
          <a:lstStyle/>
          <a:p>
            <a:pPr indent="0" marL="0">
              <a:lnSpc>
                <a:spcPct val="140000"/>
              </a:lnSpc>
              <a:buNone/>
            </a:pPr>
            <a:r>
              <a:rPr lang="en-US" sz="1300" dirty="0">
                <a:solidFill>
                  <a:srgbClr val="333333"/>
                </a:solidFill>
                <a:latin typeface="Calibri" pitchFamily="34" charset="0"/>
                <a:ea typeface="Calibri" pitchFamily="34" charset="-122"/>
                <a:cs typeface="Calibri" pitchFamily="34" charset="-120"/>
              </a:rPr>
              <a:t>Python serves as the backbone of this project. Its rich ecosystem of data science libraries, readability, and community support make it ideal for ML projects. We use Python 3.10+ for features like pattern matching and improved type hints.</a:t>
            </a:r>
            <a:endParaRPr lang="en-US" sz="1300" dirty="0"/>
          </a:p>
        </p:txBody>
      </p:sp>
      <p:sp>
        <p:nvSpPr>
          <p:cNvPr id="7" name="Shape 5"/>
          <p:cNvSpPr/>
          <p:nvPr/>
        </p:nvSpPr>
        <p:spPr>
          <a:xfrm>
            <a:off x="731520" y="3108960"/>
            <a:ext cx="73152" cy="1463040"/>
          </a:xfrm>
          <a:prstGeom prst="rect">
            <a:avLst/>
          </a:prstGeom>
          <a:solidFill>
            <a:srgbClr val="F96167"/>
          </a:solidFill>
          <a:ln/>
        </p:spPr>
      </p:sp>
      <p:sp>
        <p:nvSpPr>
          <p:cNvPr id="8" name="Text 6"/>
          <p:cNvSpPr/>
          <p:nvPr/>
        </p:nvSpPr>
        <p:spPr>
          <a:xfrm>
            <a:off x="1097280" y="3108960"/>
            <a:ext cx="3657600" cy="411480"/>
          </a:xfrm>
          <a:prstGeom prst="rect">
            <a:avLst/>
          </a:prstGeom>
          <a:noFill/>
          <a:ln/>
        </p:spPr>
        <p:txBody>
          <a:bodyPr wrap="square"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Pandas</a:t>
            </a:r>
            <a:endParaRPr lang="en-US" sz="1800" dirty="0"/>
          </a:p>
        </p:txBody>
      </p:sp>
      <p:sp>
        <p:nvSpPr>
          <p:cNvPr id="9" name="Text 7"/>
          <p:cNvSpPr/>
          <p:nvPr/>
        </p:nvSpPr>
        <p:spPr>
          <a:xfrm>
            <a:off x="1097280" y="3520440"/>
            <a:ext cx="10058400" cy="1051560"/>
          </a:xfrm>
          <a:prstGeom prst="rect">
            <a:avLst/>
          </a:prstGeom>
          <a:noFill/>
          <a:ln/>
        </p:spPr>
        <p:txBody>
          <a:bodyPr wrap="square" rtlCol="0" anchor="ctr"/>
          <a:lstStyle/>
          <a:p>
            <a:pPr indent="0" marL="0">
              <a:lnSpc>
                <a:spcPct val="140000"/>
              </a:lnSpc>
              <a:buNone/>
            </a:pPr>
            <a:r>
              <a:rPr lang="en-US" sz="1300" dirty="0">
                <a:solidFill>
                  <a:srgbClr val="333333"/>
                </a:solidFill>
                <a:latin typeface="Calibri" pitchFamily="34" charset="0"/>
                <a:ea typeface="Calibri" pitchFamily="34" charset="-122"/>
                <a:cs typeface="Calibri" pitchFamily="34" charset="-120"/>
              </a:rPr>
              <a:t>Pandas provides high-performance DataFrame structures for data cleaning, transformation, and analysis. Used extensively for handling missing values, feature engineering (date decomposition, one-hot encoding), merging datasets, and generating aggregate statistics from raw sales data.</a:t>
            </a:r>
            <a:endParaRPr lang="en-US" sz="1300" dirty="0"/>
          </a:p>
        </p:txBody>
      </p:sp>
      <p:sp>
        <p:nvSpPr>
          <p:cNvPr id="10" name="Shape 8"/>
          <p:cNvSpPr/>
          <p:nvPr/>
        </p:nvSpPr>
        <p:spPr>
          <a:xfrm>
            <a:off x="731520" y="4846320"/>
            <a:ext cx="73152" cy="1463040"/>
          </a:xfrm>
          <a:prstGeom prst="rect">
            <a:avLst/>
          </a:prstGeom>
          <a:solidFill>
            <a:srgbClr val="F96167"/>
          </a:solidFill>
          <a:ln/>
        </p:spPr>
      </p:sp>
      <p:sp>
        <p:nvSpPr>
          <p:cNvPr id="11" name="Text 9"/>
          <p:cNvSpPr/>
          <p:nvPr/>
        </p:nvSpPr>
        <p:spPr>
          <a:xfrm>
            <a:off x="1097280" y="4846320"/>
            <a:ext cx="3657600" cy="411480"/>
          </a:xfrm>
          <a:prstGeom prst="rect">
            <a:avLst/>
          </a:prstGeom>
          <a:noFill/>
          <a:ln/>
        </p:spPr>
        <p:txBody>
          <a:bodyPr wrap="square"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NumPy</a:t>
            </a:r>
            <a:endParaRPr lang="en-US" sz="1800" dirty="0"/>
          </a:p>
        </p:txBody>
      </p:sp>
      <p:sp>
        <p:nvSpPr>
          <p:cNvPr id="12" name="Text 10"/>
          <p:cNvSpPr/>
          <p:nvPr/>
        </p:nvSpPr>
        <p:spPr>
          <a:xfrm>
            <a:off x="1097280" y="5257800"/>
            <a:ext cx="10058400" cy="1051560"/>
          </a:xfrm>
          <a:prstGeom prst="rect">
            <a:avLst/>
          </a:prstGeom>
          <a:noFill/>
          <a:ln/>
        </p:spPr>
        <p:txBody>
          <a:bodyPr wrap="square" rtlCol="0" anchor="ctr"/>
          <a:lstStyle/>
          <a:p>
            <a:pPr indent="0" marL="0">
              <a:lnSpc>
                <a:spcPct val="140000"/>
              </a:lnSpc>
              <a:buNone/>
            </a:pPr>
            <a:r>
              <a:rPr lang="en-US" sz="1300" dirty="0">
                <a:solidFill>
                  <a:srgbClr val="333333"/>
                </a:solidFill>
                <a:latin typeface="Calibri" pitchFamily="34" charset="0"/>
                <a:ea typeface="Calibri" pitchFamily="34" charset="-122"/>
                <a:cs typeface="Calibri" pitchFamily="34" charset="-120"/>
              </a:rPr>
              <a:t>NumPy underpins all numerical operations with its efficient ndarray structure. It's used for vectorized computations, statistical calculations (mean, std, correlation), array manipulations, and serves as the foundation layer that Pandas and Scikit-learn build upon.</a:t>
            </a:r>
            <a:endParaRPr lang="en-US" sz="1300" dirty="0"/>
          </a:p>
        </p:txBody>
      </p:sp>
      <p:sp>
        <p:nvSpPr>
          <p:cNvPr id="13" name="Text 11"/>
          <p:cNvSpPr/>
          <p:nvPr/>
        </p:nvSpPr>
        <p:spPr>
          <a:xfrm>
            <a:off x="4114800" y="6400800"/>
            <a:ext cx="3959352" cy="274320"/>
          </a:xfrm>
          <a:prstGeom prst="rect">
            <a:avLst/>
          </a:prstGeom>
          <a:noFill/>
          <a:ln/>
        </p:spPr>
        <p:txBody>
          <a:bodyPr wrap="square" rtlCol="0" anchor="ctr"/>
          <a:lstStyle/>
          <a:p>
            <a:pPr algn="ctr" indent="0" marL="0">
              <a:buNone/>
            </a:pPr>
            <a:r>
              <a:rPr lang="en-US" sz="1000" dirty="0">
                <a:solidFill>
                  <a:srgbClr val="666666"/>
                </a:solidFill>
              </a:rPr>
              <a:t>4 / 8</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1E2761"/>
          </a:solidFill>
          <a:ln/>
        </p:spPr>
      </p:sp>
      <p:sp>
        <p:nvSpPr>
          <p:cNvPr id="3" name="Text 1"/>
          <p:cNvSpPr/>
          <p:nvPr/>
        </p:nvSpPr>
        <p:spPr>
          <a:xfrm>
            <a:off x="731520" y="182880"/>
            <a:ext cx="9144000" cy="73152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Detailed Tool Explanation (2/2)</a:t>
            </a:r>
            <a:endParaRPr lang="en-US" sz="2800" dirty="0"/>
          </a:p>
        </p:txBody>
      </p:sp>
      <p:sp>
        <p:nvSpPr>
          <p:cNvPr id="4" name="Shape 2"/>
          <p:cNvSpPr/>
          <p:nvPr/>
        </p:nvSpPr>
        <p:spPr>
          <a:xfrm>
            <a:off x="731520" y="1371600"/>
            <a:ext cx="73152" cy="1463040"/>
          </a:xfrm>
          <a:prstGeom prst="rect">
            <a:avLst/>
          </a:prstGeom>
          <a:solidFill>
            <a:srgbClr val="F96167"/>
          </a:solidFill>
          <a:ln/>
        </p:spPr>
      </p:sp>
      <p:sp>
        <p:nvSpPr>
          <p:cNvPr id="5" name="Text 3"/>
          <p:cNvSpPr/>
          <p:nvPr/>
        </p:nvSpPr>
        <p:spPr>
          <a:xfrm>
            <a:off x="1097280" y="1371600"/>
            <a:ext cx="3657600" cy="411480"/>
          </a:xfrm>
          <a:prstGeom prst="rect">
            <a:avLst/>
          </a:prstGeom>
          <a:noFill/>
          <a:ln/>
        </p:spPr>
        <p:txBody>
          <a:bodyPr wrap="square"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Scikit-learn</a:t>
            </a:r>
            <a:endParaRPr lang="en-US" sz="1800" dirty="0"/>
          </a:p>
        </p:txBody>
      </p:sp>
      <p:sp>
        <p:nvSpPr>
          <p:cNvPr id="6" name="Text 4"/>
          <p:cNvSpPr/>
          <p:nvPr/>
        </p:nvSpPr>
        <p:spPr>
          <a:xfrm>
            <a:off x="1097280" y="1783080"/>
            <a:ext cx="10058400" cy="1051560"/>
          </a:xfrm>
          <a:prstGeom prst="rect">
            <a:avLst/>
          </a:prstGeom>
          <a:noFill/>
          <a:ln/>
        </p:spPr>
        <p:txBody>
          <a:bodyPr wrap="square" rtlCol="0" anchor="ctr"/>
          <a:lstStyle/>
          <a:p>
            <a:pPr indent="0" marL="0">
              <a:lnSpc>
                <a:spcPct val="140000"/>
              </a:lnSpc>
              <a:buNone/>
            </a:pPr>
            <a:r>
              <a:rPr lang="en-US" sz="1300" dirty="0">
                <a:solidFill>
                  <a:srgbClr val="333333"/>
                </a:solidFill>
                <a:latin typeface="Calibri" pitchFamily="34" charset="0"/>
                <a:ea typeface="Calibri" pitchFamily="34" charset="-122"/>
                <a:cs typeface="Calibri" pitchFamily="34" charset="-120"/>
              </a:rPr>
              <a:t>The primary ML library providing Random Forest, Gradient Boosting, and Linear Regression implementations. Also used for train/test splitting, cross-validation, hyperparameter tuning (GridSearchCV), preprocessing (StandardScaler, LabelEncoder), and evaluation metrics (MAE, RMSE, R²).</a:t>
            </a:r>
            <a:endParaRPr lang="en-US" sz="1300" dirty="0"/>
          </a:p>
        </p:txBody>
      </p:sp>
      <p:sp>
        <p:nvSpPr>
          <p:cNvPr id="7" name="Shape 5"/>
          <p:cNvSpPr/>
          <p:nvPr/>
        </p:nvSpPr>
        <p:spPr>
          <a:xfrm>
            <a:off x="731520" y="3108960"/>
            <a:ext cx="73152" cy="1463040"/>
          </a:xfrm>
          <a:prstGeom prst="rect">
            <a:avLst/>
          </a:prstGeom>
          <a:solidFill>
            <a:srgbClr val="F96167"/>
          </a:solidFill>
          <a:ln/>
        </p:spPr>
      </p:sp>
      <p:sp>
        <p:nvSpPr>
          <p:cNvPr id="8" name="Text 6"/>
          <p:cNvSpPr/>
          <p:nvPr/>
        </p:nvSpPr>
        <p:spPr>
          <a:xfrm>
            <a:off x="1097280" y="3108960"/>
            <a:ext cx="3657600" cy="411480"/>
          </a:xfrm>
          <a:prstGeom prst="rect">
            <a:avLst/>
          </a:prstGeom>
          <a:noFill/>
          <a:ln/>
        </p:spPr>
        <p:txBody>
          <a:bodyPr wrap="square"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XGBoost</a:t>
            </a:r>
            <a:endParaRPr lang="en-US" sz="1800" dirty="0"/>
          </a:p>
        </p:txBody>
      </p:sp>
      <p:sp>
        <p:nvSpPr>
          <p:cNvPr id="9" name="Text 7"/>
          <p:cNvSpPr/>
          <p:nvPr/>
        </p:nvSpPr>
        <p:spPr>
          <a:xfrm>
            <a:off x="1097280" y="3520440"/>
            <a:ext cx="10058400" cy="1051560"/>
          </a:xfrm>
          <a:prstGeom prst="rect">
            <a:avLst/>
          </a:prstGeom>
          <a:noFill/>
          <a:ln/>
        </p:spPr>
        <p:txBody>
          <a:bodyPr wrap="square" rtlCol="0" anchor="ctr"/>
          <a:lstStyle/>
          <a:p>
            <a:pPr indent="0" marL="0">
              <a:lnSpc>
                <a:spcPct val="140000"/>
              </a:lnSpc>
              <a:buNone/>
            </a:pPr>
            <a:r>
              <a:rPr lang="en-US" sz="1300" dirty="0">
                <a:solidFill>
                  <a:srgbClr val="333333"/>
                </a:solidFill>
                <a:latin typeface="Calibri" pitchFamily="34" charset="0"/>
                <a:ea typeface="Calibri" pitchFamily="34" charset="-122"/>
                <a:cs typeface="Calibri" pitchFamily="34" charset="-120"/>
              </a:rPr>
              <a:t>An optimized gradient boosting library that delivers superior prediction performance. XGBoost handles missing values natively, supports regularization to prevent overfitting, and provides feature importance rankings — critical for understanding which fashion attributes drive sales.</a:t>
            </a:r>
            <a:endParaRPr lang="en-US" sz="1300" dirty="0"/>
          </a:p>
        </p:txBody>
      </p:sp>
      <p:sp>
        <p:nvSpPr>
          <p:cNvPr id="10" name="Shape 8"/>
          <p:cNvSpPr/>
          <p:nvPr/>
        </p:nvSpPr>
        <p:spPr>
          <a:xfrm>
            <a:off x="731520" y="4846320"/>
            <a:ext cx="73152" cy="1463040"/>
          </a:xfrm>
          <a:prstGeom prst="rect">
            <a:avLst/>
          </a:prstGeom>
          <a:solidFill>
            <a:srgbClr val="F96167"/>
          </a:solidFill>
          <a:ln/>
        </p:spPr>
      </p:sp>
      <p:sp>
        <p:nvSpPr>
          <p:cNvPr id="11" name="Text 9"/>
          <p:cNvSpPr/>
          <p:nvPr/>
        </p:nvSpPr>
        <p:spPr>
          <a:xfrm>
            <a:off x="1097280" y="4846320"/>
            <a:ext cx="3657600" cy="411480"/>
          </a:xfrm>
          <a:prstGeom prst="rect">
            <a:avLst/>
          </a:prstGeom>
          <a:noFill/>
          <a:ln/>
        </p:spPr>
        <p:txBody>
          <a:bodyPr wrap="square"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Matplotlib &amp; Seaborn</a:t>
            </a:r>
            <a:endParaRPr lang="en-US" sz="1800" dirty="0"/>
          </a:p>
        </p:txBody>
      </p:sp>
      <p:sp>
        <p:nvSpPr>
          <p:cNvPr id="12" name="Text 10"/>
          <p:cNvSpPr/>
          <p:nvPr/>
        </p:nvSpPr>
        <p:spPr>
          <a:xfrm>
            <a:off x="1097280" y="5257800"/>
            <a:ext cx="10058400" cy="1051560"/>
          </a:xfrm>
          <a:prstGeom prst="rect">
            <a:avLst/>
          </a:prstGeom>
          <a:noFill/>
          <a:ln/>
        </p:spPr>
        <p:txBody>
          <a:bodyPr wrap="square" rtlCol="0" anchor="ctr"/>
          <a:lstStyle/>
          <a:p>
            <a:pPr indent="0" marL="0">
              <a:lnSpc>
                <a:spcPct val="140000"/>
              </a:lnSpc>
              <a:buNone/>
            </a:pPr>
            <a:r>
              <a:rPr lang="en-US" sz="1300" dirty="0">
                <a:solidFill>
                  <a:srgbClr val="333333"/>
                </a:solidFill>
                <a:latin typeface="Calibri" pitchFamily="34" charset="0"/>
                <a:ea typeface="Calibri" pitchFamily="34" charset="-122"/>
                <a:cs typeface="Calibri" pitchFamily="34" charset="-120"/>
              </a:rPr>
              <a:t>Visualization libraries used for EDA and result presentation. Matplotlib creates customizable plots (line, bar, scatter), while Seaborn adds statistical visualizations (heatmaps, pair plots, box plots). Together they reveal seasonal trends, category distributions, and correlation patterns.</a:t>
            </a:r>
            <a:endParaRPr lang="en-US" sz="1300" dirty="0"/>
          </a:p>
        </p:txBody>
      </p:sp>
      <p:sp>
        <p:nvSpPr>
          <p:cNvPr id="13" name="Text 11"/>
          <p:cNvSpPr/>
          <p:nvPr/>
        </p:nvSpPr>
        <p:spPr>
          <a:xfrm>
            <a:off x="4114800" y="6400800"/>
            <a:ext cx="3959352" cy="274320"/>
          </a:xfrm>
          <a:prstGeom prst="rect">
            <a:avLst/>
          </a:prstGeom>
          <a:noFill/>
          <a:ln/>
        </p:spPr>
        <p:txBody>
          <a:bodyPr wrap="square" rtlCol="0" anchor="ctr"/>
          <a:lstStyle/>
          <a:p>
            <a:pPr algn="ctr" indent="0" marL="0">
              <a:buNone/>
            </a:pPr>
            <a:r>
              <a:rPr lang="en-US" sz="1000" dirty="0">
                <a:solidFill>
                  <a:srgbClr val="666666"/>
                </a:solidFill>
              </a:rPr>
              <a:t>5 / 8</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365760"/>
            <a:ext cx="9144000" cy="64008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Problem Statement</a:t>
            </a:r>
            <a:endParaRPr lang="en-US" sz="3600" dirty="0"/>
          </a:p>
        </p:txBody>
      </p:sp>
      <p:sp>
        <p:nvSpPr>
          <p:cNvPr id="3" name="Shape 1"/>
          <p:cNvSpPr/>
          <p:nvPr/>
        </p:nvSpPr>
        <p:spPr>
          <a:xfrm>
            <a:off x="731520" y="1051560"/>
            <a:ext cx="1371600" cy="45720"/>
          </a:xfrm>
          <a:prstGeom prst="rect">
            <a:avLst/>
          </a:prstGeom>
          <a:solidFill>
            <a:srgbClr val="F96167"/>
          </a:solidFill>
          <a:ln/>
        </p:spPr>
      </p:sp>
      <p:sp>
        <p:nvSpPr>
          <p:cNvPr id="4" name="Text 2"/>
          <p:cNvSpPr/>
          <p:nvPr/>
        </p:nvSpPr>
        <p:spPr>
          <a:xfrm>
            <a:off x="731520" y="1463040"/>
            <a:ext cx="10515600" cy="822960"/>
          </a:xfrm>
          <a:prstGeom prst="rect">
            <a:avLst/>
          </a:prstGeom>
          <a:noFill/>
          <a:ln/>
        </p:spPr>
        <p:txBody>
          <a:bodyPr wrap="square" rtlCol="0" anchor="ctr"/>
          <a:lstStyle/>
          <a:p>
            <a:pPr indent="0" marL="0">
              <a:lnSpc>
                <a:spcPct val="140000"/>
              </a:lnSpc>
              <a:buNone/>
            </a:pPr>
            <a:r>
              <a:rPr lang="en-US" sz="1500" dirty="0">
                <a:solidFill>
                  <a:srgbClr val="CADCFC"/>
                </a:solidFill>
                <a:latin typeface="Calibri" pitchFamily="34" charset="0"/>
                <a:ea typeface="Calibri" pitchFamily="34" charset="-122"/>
                <a:cs typeface="Calibri" pitchFamily="34" charset="-120"/>
              </a:rPr>
              <a:t>The fashion retail industry faces significant challenges in accurately predicting product demand due to rapidly changing trends, seasonal variations, and diverse consumer preferences. Poor demand forecasting leads to:</a:t>
            </a:r>
            <a:endParaRPr lang="en-US" sz="1500" dirty="0"/>
          </a:p>
        </p:txBody>
      </p:sp>
      <p:sp>
        <p:nvSpPr>
          <p:cNvPr id="5" name="Shape 3"/>
          <p:cNvSpPr/>
          <p:nvPr/>
        </p:nvSpPr>
        <p:spPr>
          <a:xfrm>
            <a:off x="731520" y="2560320"/>
            <a:ext cx="5120640" cy="1645920"/>
          </a:xfrm>
          <a:prstGeom prst="roundRect">
            <a:avLst>
              <a:gd name="adj" fmla="val 5556"/>
            </a:avLst>
          </a:prstGeom>
          <a:solidFill>
            <a:srgbClr val="0D1B2A"/>
          </a:solidFill>
          <a:ln/>
        </p:spPr>
      </p:sp>
      <p:sp>
        <p:nvSpPr>
          <p:cNvPr id="6" name="Text 4"/>
          <p:cNvSpPr/>
          <p:nvPr/>
        </p:nvSpPr>
        <p:spPr>
          <a:xfrm>
            <a:off x="1005840" y="2743200"/>
            <a:ext cx="4572000" cy="411480"/>
          </a:xfrm>
          <a:prstGeom prst="rect">
            <a:avLst/>
          </a:prstGeom>
          <a:noFill/>
          <a:ln/>
        </p:spPr>
        <p:txBody>
          <a:bodyPr wrap="square" rtlCol="0" anchor="ctr"/>
          <a:lstStyle/>
          <a:p>
            <a:pPr indent="0" marL="0">
              <a:buNone/>
            </a:pPr>
            <a:r>
              <a:rPr lang="en-US" sz="1700" b="1" dirty="0">
                <a:solidFill>
                  <a:srgbClr val="F96167"/>
                </a:solidFill>
                <a:latin typeface="Calibri" pitchFamily="34" charset="0"/>
                <a:ea typeface="Calibri" pitchFamily="34" charset="-122"/>
                <a:cs typeface="Calibri" pitchFamily="34" charset="-120"/>
              </a:rPr>
              <a:t>Overstock &amp; Waste</a:t>
            </a:r>
            <a:endParaRPr lang="en-US" sz="1700" dirty="0"/>
          </a:p>
        </p:txBody>
      </p:sp>
      <p:sp>
        <p:nvSpPr>
          <p:cNvPr id="7" name="Text 5"/>
          <p:cNvSpPr/>
          <p:nvPr/>
        </p:nvSpPr>
        <p:spPr>
          <a:xfrm>
            <a:off x="1005840" y="3200400"/>
            <a:ext cx="4572000" cy="731520"/>
          </a:xfrm>
          <a:prstGeom prst="rect">
            <a:avLst/>
          </a:prstGeom>
          <a:noFill/>
          <a:ln/>
        </p:spPr>
        <p:txBody>
          <a:bodyPr wrap="square" rtlCol="0" anchor="ctr"/>
          <a:lstStyle/>
          <a:p>
            <a:pPr indent="0" marL="0">
              <a:lnSpc>
                <a:spcPct val="130000"/>
              </a:lnSpc>
              <a:buNone/>
            </a:pPr>
            <a:r>
              <a:rPr lang="en-US" sz="1300" dirty="0">
                <a:solidFill>
                  <a:srgbClr val="CADCFC"/>
                </a:solidFill>
                <a:latin typeface="Calibri" pitchFamily="34" charset="0"/>
                <a:ea typeface="Calibri" pitchFamily="34" charset="-122"/>
                <a:cs typeface="Calibri" pitchFamily="34" charset="-120"/>
              </a:rPr>
              <a:t>Unsold inventory leads to markdowns averaging 30-40% revenue loss</a:t>
            </a:r>
            <a:endParaRPr lang="en-US" sz="1300" dirty="0"/>
          </a:p>
        </p:txBody>
      </p:sp>
      <p:sp>
        <p:nvSpPr>
          <p:cNvPr id="8" name="Shape 6"/>
          <p:cNvSpPr/>
          <p:nvPr/>
        </p:nvSpPr>
        <p:spPr>
          <a:xfrm>
            <a:off x="6217920" y="2560320"/>
            <a:ext cx="5120640" cy="1645920"/>
          </a:xfrm>
          <a:prstGeom prst="roundRect">
            <a:avLst>
              <a:gd name="adj" fmla="val 5556"/>
            </a:avLst>
          </a:prstGeom>
          <a:solidFill>
            <a:srgbClr val="0D1B2A"/>
          </a:solidFill>
          <a:ln/>
        </p:spPr>
      </p:sp>
      <p:sp>
        <p:nvSpPr>
          <p:cNvPr id="9" name="Text 7"/>
          <p:cNvSpPr/>
          <p:nvPr/>
        </p:nvSpPr>
        <p:spPr>
          <a:xfrm>
            <a:off x="6492240" y="2743200"/>
            <a:ext cx="4572000" cy="411480"/>
          </a:xfrm>
          <a:prstGeom prst="rect">
            <a:avLst/>
          </a:prstGeom>
          <a:noFill/>
          <a:ln/>
        </p:spPr>
        <p:txBody>
          <a:bodyPr wrap="square" rtlCol="0" anchor="ctr"/>
          <a:lstStyle/>
          <a:p>
            <a:pPr indent="0" marL="0">
              <a:buNone/>
            </a:pPr>
            <a:r>
              <a:rPr lang="en-US" sz="1700" b="1" dirty="0">
                <a:solidFill>
                  <a:srgbClr val="F96167"/>
                </a:solidFill>
                <a:latin typeface="Calibri" pitchFamily="34" charset="0"/>
                <a:ea typeface="Calibri" pitchFamily="34" charset="-122"/>
                <a:cs typeface="Calibri" pitchFamily="34" charset="-120"/>
              </a:rPr>
              <a:t>Stockouts</a:t>
            </a:r>
            <a:endParaRPr lang="en-US" sz="1700" dirty="0"/>
          </a:p>
        </p:txBody>
      </p:sp>
      <p:sp>
        <p:nvSpPr>
          <p:cNvPr id="10" name="Text 8"/>
          <p:cNvSpPr/>
          <p:nvPr/>
        </p:nvSpPr>
        <p:spPr>
          <a:xfrm>
            <a:off x="6492240" y="3200400"/>
            <a:ext cx="4572000" cy="731520"/>
          </a:xfrm>
          <a:prstGeom prst="rect">
            <a:avLst/>
          </a:prstGeom>
          <a:noFill/>
          <a:ln/>
        </p:spPr>
        <p:txBody>
          <a:bodyPr wrap="square" rtlCol="0" anchor="ctr"/>
          <a:lstStyle/>
          <a:p>
            <a:pPr indent="0" marL="0">
              <a:lnSpc>
                <a:spcPct val="130000"/>
              </a:lnSpc>
              <a:buNone/>
            </a:pPr>
            <a:r>
              <a:rPr lang="en-US" sz="1300" dirty="0">
                <a:solidFill>
                  <a:srgbClr val="CADCFC"/>
                </a:solidFill>
                <a:latin typeface="Calibri" pitchFamily="34" charset="0"/>
                <a:ea typeface="Calibri" pitchFamily="34" charset="-122"/>
                <a:cs typeface="Calibri" pitchFamily="34" charset="-120"/>
              </a:rPr>
              <a:t>Popular items running out results in missed sales and customer dissatisfaction</a:t>
            </a:r>
            <a:endParaRPr lang="en-US" sz="1300" dirty="0"/>
          </a:p>
        </p:txBody>
      </p:sp>
      <p:sp>
        <p:nvSpPr>
          <p:cNvPr id="11" name="Shape 9"/>
          <p:cNvSpPr/>
          <p:nvPr/>
        </p:nvSpPr>
        <p:spPr>
          <a:xfrm>
            <a:off x="731520" y="4480560"/>
            <a:ext cx="5120640" cy="1645920"/>
          </a:xfrm>
          <a:prstGeom prst="roundRect">
            <a:avLst>
              <a:gd name="adj" fmla="val 5556"/>
            </a:avLst>
          </a:prstGeom>
          <a:solidFill>
            <a:srgbClr val="0D1B2A"/>
          </a:solidFill>
          <a:ln/>
        </p:spPr>
      </p:sp>
      <p:sp>
        <p:nvSpPr>
          <p:cNvPr id="12" name="Text 10"/>
          <p:cNvSpPr/>
          <p:nvPr/>
        </p:nvSpPr>
        <p:spPr>
          <a:xfrm>
            <a:off x="1005840" y="4663440"/>
            <a:ext cx="4572000" cy="411480"/>
          </a:xfrm>
          <a:prstGeom prst="rect">
            <a:avLst/>
          </a:prstGeom>
          <a:noFill/>
          <a:ln/>
        </p:spPr>
        <p:txBody>
          <a:bodyPr wrap="square" rtlCol="0" anchor="ctr"/>
          <a:lstStyle/>
          <a:p>
            <a:pPr indent="0" marL="0">
              <a:buNone/>
            </a:pPr>
            <a:r>
              <a:rPr lang="en-US" sz="1700" b="1" dirty="0">
                <a:solidFill>
                  <a:srgbClr val="F96167"/>
                </a:solidFill>
                <a:latin typeface="Calibri" pitchFamily="34" charset="0"/>
                <a:ea typeface="Calibri" pitchFamily="34" charset="-122"/>
                <a:cs typeface="Calibri" pitchFamily="34" charset="-120"/>
              </a:rPr>
              <a:t>Inefficient Marketing</a:t>
            </a:r>
            <a:endParaRPr lang="en-US" sz="1700" dirty="0"/>
          </a:p>
        </p:txBody>
      </p:sp>
      <p:sp>
        <p:nvSpPr>
          <p:cNvPr id="13" name="Text 11"/>
          <p:cNvSpPr/>
          <p:nvPr/>
        </p:nvSpPr>
        <p:spPr>
          <a:xfrm>
            <a:off x="1005840" y="5120640"/>
            <a:ext cx="4572000" cy="731520"/>
          </a:xfrm>
          <a:prstGeom prst="rect">
            <a:avLst/>
          </a:prstGeom>
          <a:noFill/>
          <a:ln/>
        </p:spPr>
        <p:txBody>
          <a:bodyPr wrap="square" rtlCol="0" anchor="ctr"/>
          <a:lstStyle/>
          <a:p>
            <a:pPr indent="0" marL="0">
              <a:lnSpc>
                <a:spcPct val="130000"/>
              </a:lnSpc>
              <a:buNone/>
            </a:pPr>
            <a:r>
              <a:rPr lang="en-US" sz="1300" dirty="0">
                <a:solidFill>
                  <a:srgbClr val="CADCFC"/>
                </a:solidFill>
                <a:latin typeface="Calibri" pitchFamily="34" charset="0"/>
                <a:ea typeface="Calibri" pitchFamily="34" charset="-122"/>
                <a:cs typeface="Calibri" pitchFamily="34" charset="-120"/>
              </a:rPr>
              <a:t>Without demand insights, marketing budgets are misallocated across categories</a:t>
            </a:r>
            <a:endParaRPr lang="en-US" sz="1300" dirty="0"/>
          </a:p>
        </p:txBody>
      </p:sp>
      <p:sp>
        <p:nvSpPr>
          <p:cNvPr id="14" name="Shape 12"/>
          <p:cNvSpPr/>
          <p:nvPr/>
        </p:nvSpPr>
        <p:spPr>
          <a:xfrm>
            <a:off x="6217920" y="4480560"/>
            <a:ext cx="5120640" cy="1645920"/>
          </a:xfrm>
          <a:prstGeom prst="roundRect">
            <a:avLst>
              <a:gd name="adj" fmla="val 5556"/>
            </a:avLst>
          </a:prstGeom>
          <a:solidFill>
            <a:srgbClr val="0D1B2A"/>
          </a:solidFill>
          <a:ln/>
        </p:spPr>
      </p:sp>
      <p:sp>
        <p:nvSpPr>
          <p:cNvPr id="15" name="Text 13"/>
          <p:cNvSpPr/>
          <p:nvPr/>
        </p:nvSpPr>
        <p:spPr>
          <a:xfrm>
            <a:off x="6492240" y="4663440"/>
            <a:ext cx="4572000" cy="411480"/>
          </a:xfrm>
          <a:prstGeom prst="rect">
            <a:avLst/>
          </a:prstGeom>
          <a:noFill/>
          <a:ln/>
        </p:spPr>
        <p:txBody>
          <a:bodyPr wrap="square" rtlCol="0" anchor="ctr"/>
          <a:lstStyle/>
          <a:p>
            <a:pPr indent="0" marL="0">
              <a:buNone/>
            </a:pPr>
            <a:r>
              <a:rPr lang="en-US" sz="1700" b="1" dirty="0">
                <a:solidFill>
                  <a:srgbClr val="F96167"/>
                </a:solidFill>
                <a:latin typeface="Calibri" pitchFamily="34" charset="0"/>
                <a:ea typeface="Calibri" pitchFamily="34" charset="-122"/>
                <a:cs typeface="Calibri" pitchFamily="34" charset="-120"/>
              </a:rPr>
              <a:t>Poor Planning</a:t>
            </a:r>
            <a:endParaRPr lang="en-US" sz="1700" dirty="0"/>
          </a:p>
        </p:txBody>
      </p:sp>
      <p:sp>
        <p:nvSpPr>
          <p:cNvPr id="16" name="Text 14"/>
          <p:cNvSpPr/>
          <p:nvPr/>
        </p:nvSpPr>
        <p:spPr>
          <a:xfrm>
            <a:off x="6492240" y="5120640"/>
            <a:ext cx="4572000" cy="731520"/>
          </a:xfrm>
          <a:prstGeom prst="rect">
            <a:avLst/>
          </a:prstGeom>
          <a:noFill/>
          <a:ln/>
        </p:spPr>
        <p:txBody>
          <a:bodyPr wrap="square" rtlCol="0" anchor="ctr"/>
          <a:lstStyle/>
          <a:p>
            <a:pPr indent="0" marL="0">
              <a:lnSpc>
                <a:spcPct val="130000"/>
              </a:lnSpc>
              <a:buNone/>
            </a:pPr>
            <a:r>
              <a:rPr lang="en-US" sz="1300" dirty="0">
                <a:solidFill>
                  <a:srgbClr val="CADCFC"/>
                </a:solidFill>
                <a:latin typeface="Calibri" pitchFamily="34" charset="0"/>
                <a:ea typeface="Calibri" pitchFamily="34" charset="-122"/>
                <a:cs typeface="Calibri" pitchFamily="34" charset="-120"/>
              </a:rPr>
              <a:t>Production and procurement cycles lack data-driven demand signals</a:t>
            </a:r>
            <a:endParaRPr lang="en-US" sz="1300" dirty="0"/>
          </a:p>
        </p:txBody>
      </p:sp>
      <p:sp>
        <p:nvSpPr>
          <p:cNvPr id="17" name="Text 15"/>
          <p:cNvSpPr/>
          <p:nvPr/>
        </p:nvSpPr>
        <p:spPr>
          <a:xfrm>
            <a:off x="4114800" y="6400800"/>
            <a:ext cx="3959352" cy="274320"/>
          </a:xfrm>
          <a:prstGeom prst="rect">
            <a:avLst/>
          </a:prstGeom>
          <a:noFill/>
          <a:ln/>
        </p:spPr>
        <p:txBody>
          <a:bodyPr wrap="square" rtlCol="0" anchor="ctr"/>
          <a:lstStyle/>
          <a:p>
            <a:pPr algn="ctr" indent="0" marL="0">
              <a:buNone/>
            </a:pPr>
            <a:r>
              <a:rPr lang="en-US" sz="1000" dirty="0">
                <a:solidFill>
                  <a:srgbClr val="666666"/>
                </a:solidFill>
              </a:rPr>
              <a:t>6 / 8</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1E2761"/>
          </a:solidFill>
          <a:ln/>
        </p:spPr>
      </p:sp>
      <p:sp>
        <p:nvSpPr>
          <p:cNvPr id="3" name="Text 1"/>
          <p:cNvSpPr/>
          <p:nvPr/>
        </p:nvSpPr>
        <p:spPr>
          <a:xfrm>
            <a:off x="731520" y="365760"/>
            <a:ext cx="7315200" cy="640080"/>
          </a:xfrm>
          <a:prstGeom prst="rect">
            <a:avLst/>
          </a:prstGeom>
          <a:noFill/>
          <a:ln/>
        </p:spPr>
        <p:txBody>
          <a:bodyPr wrap="square" rtlCol="0" anchor="ctr"/>
          <a:lstStyle/>
          <a:p>
            <a:pPr indent="0" marL="0">
              <a:buNone/>
            </a:pPr>
            <a:r>
              <a:rPr lang="en-US" sz="3600" b="1" dirty="0">
                <a:solidFill>
                  <a:srgbClr val="1E2761"/>
                </a:solidFill>
                <a:latin typeface="Georgia" pitchFamily="34" charset="0"/>
                <a:ea typeface="Georgia" pitchFamily="34" charset="-122"/>
                <a:cs typeface="Georgia" pitchFamily="34" charset="-120"/>
              </a:rPr>
              <a:t>Future Scope</a:t>
            </a:r>
            <a:endParaRPr lang="en-US" sz="3600" dirty="0"/>
          </a:p>
        </p:txBody>
      </p:sp>
      <p:sp>
        <p:nvSpPr>
          <p:cNvPr id="4" name="Shape 2"/>
          <p:cNvSpPr/>
          <p:nvPr/>
        </p:nvSpPr>
        <p:spPr>
          <a:xfrm>
            <a:off x="731520" y="1051560"/>
            <a:ext cx="1371600" cy="45720"/>
          </a:xfrm>
          <a:prstGeom prst="rect">
            <a:avLst/>
          </a:prstGeom>
          <a:solidFill>
            <a:srgbClr val="F96167"/>
          </a:solidFill>
          <a:ln/>
        </p:spPr>
      </p:sp>
      <p:sp>
        <p:nvSpPr>
          <p:cNvPr id="5" name="Shape 3"/>
          <p:cNvSpPr/>
          <p:nvPr/>
        </p:nvSpPr>
        <p:spPr>
          <a:xfrm>
            <a:off x="731520" y="1417320"/>
            <a:ext cx="320040" cy="320040"/>
          </a:xfrm>
          <a:prstGeom prst="rect">
            <a:avLst>
              <a:gd name="adj" fmla="val 14286"/>
            </a:avLst>
          </a:prstGeom>
          <a:solidFill>
            <a:srgbClr val="1E2761"/>
          </a:solidFill>
          <a:ln/>
        </p:spPr>
      </p:sp>
      <p:sp>
        <p:nvSpPr>
          <p:cNvPr id="6" name="Text 4"/>
          <p:cNvSpPr/>
          <p:nvPr/>
        </p:nvSpPr>
        <p:spPr>
          <a:xfrm>
            <a:off x="731520" y="141732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280160" y="1371600"/>
            <a:ext cx="3657600" cy="36576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Deep Learning Integration</a:t>
            </a:r>
            <a:endParaRPr lang="en-US" sz="1600" dirty="0"/>
          </a:p>
        </p:txBody>
      </p:sp>
      <p:sp>
        <p:nvSpPr>
          <p:cNvPr id="8" name="Text 6"/>
          <p:cNvSpPr/>
          <p:nvPr/>
        </p:nvSpPr>
        <p:spPr>
          <a:xfrm>
            <a:off x="1280160" y="1737360"/>
            <a:ext cx="10058400" cy="548640"/>
          </a:xfrm>
          <a:prstGeom prst="rect">
            <a:avLst/>
          </a:prstGeom>
          <a:noFill/>
          <a:ln/>
        </p:spPr>
        <p:txBody>
          <a:bodyPr wrap="square" rtlCol="0" anchor="ctr"/>
          <a:lstStyle/>
          <a:p>
            <a:pPr indent="0" marL="0">
              <a:lnSpc>
                <a:spcPct val="130000"/>
              </a:lnSpc>
              <a:buNone/>
            </a:pPr>
            <a:r>
              <a:rPr lang="en-US" sz="1250" dirty="0">
                <a:solidFill>
                  <a:srgbClr val="333333"/>
                </a:solidFill>
                <a:latin typeface="Calibri" pitchFamily="34" charset="0"/>
                <a:ea typeface="Calibri" pitchFamily="34" charset="-122"/>
                <a:cs typeface="Calibri" pitchFamily="34" charset="-120"/>
              </a:rPr>
              <a:t>Implement LSTM and Transformer networks for time-series forecasting to capture long-term temporal dependencies in fashion trends.</a:t>
            </a:r>
            <a:endParaRPr lang="en-US" sz="1250" dirty="0"/>
          </a:p>
        </p:txBody>
      </p:sp>
      <p:sp>
        <p:nvSpPr>
          <p:cNvPr id="9" name="Shape 7"/>
          <p:cNvSpPr/>
          <p:nvPr/>
        </p:nvSpPr>
        <p:spPr>
          <a:xfrm>
            <a:off x="731520" y="2468880"/>
            <a:ext cx="320040" cy="320040"/>
          </a:xfrm>
          <a:prstGeom prst="rect">
            <a:avLst>
              <a:gd name="adj" fmla="val 14286"/>
            </a:avLst>
          </a:prstGeom>
          <a:solidFill>
            <a:srgbClr val="1E2761"/>
          </a:solidFill>
          <a:ln/>
        </p:spPr>
      </p:sp>
      <p:sp>
        <p:nvSpPr>
          <p:cNvPr id="10" name="Text 8"/>
          <p:cNvSpPr/>
          <p:nvPr/>
        </p:nvSpPr>
        <p:spPr>
          <a:xfrm>
            <a:off x="731520" y="246888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80160" y="2423160"/>
            <a:ext cx="3657600" cy="36576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Real-time Prediction API</a:t>
            </a:r>
            <a:endParaRPr lang="en-US" sz="1600" dirty="0"/>
          </a:p>
        </p:txBody>
      </p:sp>
      <p:sp>
        <p:nvSpPr>
          <p:cNvPr id="12" name="Text 10"/>
          <p:cNvSpPr/>
          <p:nvPr/>
        </p:nvSpPr>
        <p:spPr>
          <a:xfrm>
            <a:off x="1280160" y="2788920"/>
            <a:ext cx="10058400" cy="548640"/>
          </a:xfrm>
          <a:prstGeom prst="rect">
            <a:avLst/>
          </a:prstGeom>
          <a:noFill/>
          <a:ln/>
        </p:spPr>
        <p:txBody>
          <a:bodyPr wrap="square" rtlCol="0" anchor="ctr"/>
          <a:lstStyle/>
          <a:p>
            <a:pPr indent="0" marL="0">
              <a:lnSpc>
                <a:spcPct val="130000"/>
              </a:lnSpc>
              <a:buNone/>
            </a:pPr>
            <a:r>
              <a:rPr lang="en-US" sz="1250" dirty="0">
                <a:solidFill>
                  <a:srgbClr val="333333"/>
                </a:solidFill>
                <a:latin typeface="Calibri" pitchFamily="34" charset="0"/>
                <a:ea typeface="Calibri" pitchFamily="34" charset="-122"/>
                <a:cs typeface="Calibri" pitchFamily="34" charset="-120"/>
              </a:rPr>
              <a:t>Deploy the model as a REST API service enabling real-time sales predictions integrated with POS and e-commerce systems.</a:t>
            </a:r>
            <a:endParaRPr lang="en-US" sz="1250" dirty="0"/>
          </a:p>
        </p:txBody>
      </p:sp>
      <p:sp>
        <p:nvSpPr>
          <p:cNvPr id="13" name="Shape 11"/>
          <p:cNvSpPr/>
          <p:nvPr/>
        </p:nvSpPr>
        <p:spPr>
          <a:xfrm>
            <a:off x="731520" y="3520440"/>
            <a:ext cx="320040" cy="320040"/>
          </a:xfrm>
          <a:prstGeom prst="rect">
            <a:avLst>
              <a:gd name="adj" fmla="val 14286"/>
            </a:avLst>
          </a:prstGeom>
          <a:solidFill>
            <a:srgbClr val="1E2761"/>
          </a:solidFill>
          <a:ln/>
        </p:spPr>
      </p:sp>
      <p:sp>
        <p:nvSpPr>
          <p:cNvPr id="14" name="Text 12"/>
          <p:cNvSpPr/>
          <p:nvPr/>
        </p:nvSpPr>
        <p:spPr>
          <a:xfrm>
            <a:off x="731520" y="352044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280160" y="3474720"/>
            <a:ext cx="3657600" cy="36576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Social Media Sentiment</a:t>
            </a:r>
            <a:endParaRPr lang="en-US" sz="1600" dirty="0"/>
          </a:p>
        </p:txBody>
      </p:sp>
      <p:sp>
        <p:nvSpPr>
          <p:cNvPr id="16" name="Text 14"/>
          <p:cNvSpPr/>
          <p:nvPr/>
        </p:nvSpPr>
        <p:spPr>
          <a:xfrm>
            <a:off x="1280160" y="3840480"/>
            <a:ext cx="10058400" cy="548640"/>
          </a:xfrm>
          <a:prstGeom prst="rect">
            <a:avLst/>
          </a:prstGeom>
          <a:noFill/>
          <a:ln/>
        </p:spPr>
        <p:txBody>
          <a:bodyPr wrap="square" rtlCol="0" anchor="ctr"/>
          <a:lstStyle/>
          <a:p>
            <a:pPr indent="0" marL="0">
              <a:lnSpc>
                <a:spcPct val="130000"/>
              </a:lnSpc>
              <a:buNone/>
            </a:pPr>
            <a:r>
              <a:rPr lang="en-US" sz="1250" dirty="0">
                <a:solidFill>
                  <a:srgbClr val="333333"/>
                </a:solidFill>
                <a:latin typeface="Calibri" pitchFamily="34" charset="0"/>
                <a:ea typeface="Calibri" pitchFamily="34" charset="-122"/>
                <a:cs typeface="Calibri" pitchFamily="34" charset="-120"/>
              </a:rPr>
              <a:t>Incorporate NLP-based sentiment analysis from social media and fashion blogs to capture emerging trend signals before they appear in sales data.</a:t>
            </a:r>
            <a:endParaRPr lang="en-US" sz="1250" dirty="0"/>
          </a:p>
        </p:txBody>
      </p:sp>
      <p:sp>
        <p:nvSpPr>
          <p:cNvPr id="17" name="Shape 15"/>
          <p:cNvSpPr/>
          <p:nvPr/>
        </p:nvSpPr>
        <p:spPr>
          <a:xfrm>
            <a:off x="731520" y="4572000"/>
            <a:ext cx="320040" cy="320040"/>
          </a:xfrm>
          <a:prstGeom prst="rect">
            <a:avLst>
              <a:gd name="adj" fmla="val 14286"/>
            </a:avLst>
          </a:prstGeom>
          <a:solidFill>
            <a:srgbClr val="1E2761"/>
          </a:solidFill>
          <a:ln/>
        </p:spPr>
      </p:sp>
      <p:sp>
        <p:nvSpPr>
          <p:cNvPr id="18" name="Text 16"/>
          <p:cNvSpPr/>
          <p:nvPr/>
        </p:nvSpPr>
        <p:spPr>
          <a:xfrm>
            <a:off x="731520" y="457200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1280160" y="4526280"/>
            <a:ext cx="3657600" cy="36576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Computer Vision for Trends</a:t>
            </a:r>
            <a:endParaRPr lang="en-US" sz="1600" dirty="0"/>
          </a:p>
        </p:txBody>
      </p:sp>
      <p:sp>
        <p:nvSpPr>
          <p:cNvPr id="20" name="Text 18"/>
          <p:cNvSpPr/>
          <p:nvPr/>
        </p:nvSpPr>
        <p:spPr>
          <a:xfrm>
            <a:off x="1280160" y="4892040"/>
            <a:ext cx="10058400" cy="548640"/>
          </a:xfrm>
          <a:prstGeom prst="rect">
            <a:avLst/>
          </a:prstGeom>
          <a:noFill/>
          <a:ln/>
        </p:spPr>
        <p:txBody>
          <a:bodyPr wrap="square" rtlCol="0" anchor="ctr"/>
          <a:lstStyle/>
          <a:p>
            <a:pPr indent="0" marL="0">
              <a:lnSpc>
                <a:spcPct val="130000"/>
              </a:lnSpc>
              <a:buNone/>
            </a:pPr>
            <a:r>
              <a:rPr lang="en-US" sz="1250" dirty="0">
                <a:solidFill>
                  <a:srgbClr val="333333"/>
                </a:solidFill>
                <a:latin typeface="Calibri" pitchFamily="34" charset="0"/>
                <a:ea typeface="Calibri" pitchFamily="34" charset="-122"/>
                <a:cs typeface="Calibri" pitchFamily="34" charset="-120"/>
              </a:rPr>
              <a:t>Use image recognition on fashion imagery to identify visual trend patterns (colors, styles, silhouettes) and correlate with sales data.</a:t>
            </a:r>
            <a:endParaRPr lang="en-US" sz="1250" dirty="0"/>
          </a:p>
        </p:txBody>
      </p:sp>
      <p:sp>
        <p:nvSpPr>
          <p:cNvPr id="21" name="Shape 19"/>
          <p:cNvSpPr/>
          <p:nvPr/>
        </p:nvSpPr>
        <p:spPr>
          <a:xfrm>
            <a:off x="731520" y="5623560"/>
            <a:ext cx="320040" cy="320040"/>
          </a:xfrm>
          <a:prstGeom prst="rect">
            <a:avLst>
              <a:gd name="adj" fmla="val 14286"/>
            </a:avLst>
          </a:prstGeom>
          <a:solidFill>
            <a:srgbClr val="1E2761"/>
          </a:solidFill>
          <a:ln/>
        </p:spPr>
      </p:sp>
      <p:sp>
        <p:nvSpPr>
          <p:cNvPr id="22" name="Text 20"/>
          <p:cNvSpPr/>
          <p:nvPr/>
        </p:nvSpPr>
        <p:spPr>
          <a:xfrm>
            <a:off x="731520" y="562356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1"/>
          <p:cNvSpPr/>
          <p:nvPr/>
        </p:nvSpPr>
        <p:spPr>
          <a:xfrm>
            <a:off x="1280160" y="5577840"/>
            <a:ext cx="3657600" cy="36576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Multi-store Optimization</a:t>
            </a:r>
            <a:endParaRPr lang="en-US" sz="1600" dirty="0"/>
          </a:p>
        </p:txBody>
      </p:sp>
      <p:sp>
        <p:nvSpPr>
          <p:cNvPr id="24" name="Text 22"/>
          <p:cNvSpPr/>
          <p:nvPr/>
        </p:nvSpPr>
        <p:spPr>
          <a:xfrm>
            <a:off x="1280160" y="5943600"/>
            <a:ext cx="10058400" cy="548640"/>
          </a:xfrm>
          <a:prstGeom prst="rect">
            <a:avLst/>
          </a:prstGeom>
          <a:noFill/>
          <a:ln/>
        </p:spPr>
        <p:txBody>
          <a:bodyPr wrap="square" rtlCol="0" anchor="ctr"/>
          <a:lstStyle/>
          <a:p>
            <a:pPr indent="0" marL="0">
              <a:lnSpc>
                <a:spcPct val="130000"/>
              </a:lnSpc>
              <a:buNone/>
            </a:pPr>
            <a:r>
              <a:rPr lang="en-US" sz="1250" dirty="0">
                <a:solidFill>
                  <a:srgbClr val="333333"/>
                </a:solidFill>
                <a:latin typeface="Calibri" pitchFamily="34" charset="0"/>
                <a:ea typeface="Calibri" pitchFamily="34" charset="-122"/>
                <a:cs typeface="Calibri" pitchFamily="34" charset="-120"/>
              </a:rPr>
              <a:t>Extend to multi-location inventory optimization with transfer learning across stores and regional demand pattern analysis.</a:t>
            </a:r>
            <a:endParaRPr lang="en-US" sz="1250" dirty="0"/>
          </a:p>
        </p:txBody>
      </p:sp>
      <p:sp>
        <p:nvSpPr>
          <p:cNvPr id="25" name="Text 23"/>
          <p:cNvSpPr/>
          <p:nvPr/>
        </p:nvSpPr>
        <p:spPr>
          <a:xfrm>
            <a:off x="4114800" y="6400800"/>
            <a:ext cx="3959352" cy="274320"/>
          </a:xfrm>
          <a:prstGeom prst="rect">
            <a:avLst/>
          </a:prstGeom>
          <a:noFill/>
          <a:ln/>
        </p:spPr>
        <p:txBody>
          <a:bodyPr wrap="square" rtlCol="0" anchor="ctr"/>
          <a:lstStyle/>
          <a:p>
            <a:pPr algn="ctr" indent="0" marL="0">
              <a:buNone/>
            </a:pPr>
            <a:r>
              <a:rPr lang="en-US" sz="1000" dirty="0">
                <a:solidFill>
                  <a:srgbClr val="666666"/>
                </a:solidFill>
              </a:rPr>
              <a:t>7 / 8</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914400" y="2286000"/>
            <a:ext cx="10058400" cy="1371600"/>
          </a:xfrm>
          <a:prstGeom prst="rect">
            <a:avLst/>
          </a:prstGeom>
          <a:noFill/>
          <a:ln/>
        </p:spPr>
        <p:txBody>
          <a:bodyPr wrap="square" rtlCol="0" anchor="ctr"/>
          <a:lstStyle/>
          <a:p>
            <a:pPr algn="ctr" indent="0" marL="0">
              <a:buNone/>
            </a:pPr>
            <a:r>
              <a:rPr lang="en-US" sz="5400" b="1" dirty="0">
                <a:solidFill>
                  <a:srgbClr val="FFFFFF"/>
                </a:solidFill>
                <a:latin typeface="Georgia" pitchFamily="34" charset="0"/>
                <a:ea typeface="Georgia" pitchFamily="34" charset="-122"/>
                <a:cs typeface="Georgia" pitchFamily="34" charset="-120"/>
              </a:rPr>
              <a:t>Thank You</a:t>
            </a:r>
            <a:endParaRPr lang="en-US" sz="5400" dirty="0"/>
          </a:p>
        </p:txBody>
      </p:sp>
      <p:sp>
        <p:nvSpPr>
          <p:cNvPr id="3" name="Shape 1"/>
          <p:cNvSpPr/>
          <p:nvPr/>
        </p:nvSpPr>
        <p:spPr>
          <a:xfrm>
            <a:off x="5029200" y="3840480"/>
            <a:ext cx="2130552" cy="54864"/>
          </a:xfrm>
          <a:prstGeom prst="rect">
            <a:avLst/>
          </a:prstGeom>
          <a:solidFill>
            <a:srgbClr val="F96167"/>
          </a:solidFill>
          <a:ln/>
        </p:spPr>
      </p:sp>
      <p:sp>
        <p:nvSpPr>
          <p:cNvPr id="4" name="Text 2"/>
          <p:cNvSpPr/>
          <p:nvPr/>
        </p:nvSpPr>
        <p:spPr>
          <a:xfrm>
            <a:off x="1828800" y="4206240"/>
            <a:ext cx="8229600" cy="457200"/>
          </a:xfrm>
          <a:prstGeom prst="rect">
            <a:avLst/>
          </a:prstGeom>
          <a:noFill/>
          <a:ln/>
        </p:spPr>
        <p:txBody>
          <a:bodyPr wrap="square" rtlCol="0" anchor="ctr"/>
          <a:lstStyle/>
          <a:p>
            <a:pPr algn="ctr" indent="0" marL="0">
              <a:buNone/>
            </a:pPr>
            <a:r>
              <a:rPr lang="en-US" sz="2000" dirty="0">
                <a:solidFill>
                  <a:srgbClr val="CADCFC"/>
                </a:solidFill>
                <a:latin typeface="Calibri" pitchFamily="34" charset="0"/>
                <a:ea typeface="Calibri" pitchFamily="34" charset="-122"/>
                <a:cs typeface="Calibri" pitchFamily="34" charset="-120"/>
              </a:rPr>
              <a:t>Questions &amp; Discussion</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Fashion Sales - Machine Learning Project</dc:title>
  <dc:subject>PptxGenJS Presentation</dc:subject>
  <dc:creator>Fashion Sales ML Project</dc:creator>
  <cp:lastModifiedBy>Fashion Sales ML Project</cp:lastModifiedBy>
  <cp:revision>1</cp:revision>
  <dcterms:created xsi:type="dcterms:W3CDTF">2026-04-08T17:12:21Z</dcterms:created>
  <dcterms:modified xsi:type="dcterms:W3CDTF">2026-04-08T17:12:21Z</dcterms:modified>
</cp:coreProperties>
</file>